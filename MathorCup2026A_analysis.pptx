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整理了啤酒风味预测赛题的分析与建模方案。三个问题分别关注感官预测、关键化合物解释，以及给定风格的化合物谱生成和跨风格迁移。我们已经完成赛题和附件的初步核查，实际数据包含二百五十款啤酒；本稿讨论研究路线和验证设计，尚未训练模型，也不展示虚构的预测效果。贯穿三问的基本判断是：先建立可信的数据尺度和感官映射，再进一步解释关键成分与设计候选化合物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问可以共用一套基础。首先核实每个化学指标的尺度、单位和样本连接方式，并明确训练与测试的边界。第一问建立化学谱到感官强度的映射，并单独说明七级评分的标定依据。第二问利用共表达关系和监督模型，解释每个感官维度的关键因素，并检查这些因素能否稳定入选。第三问按风格生成或迁移化合物谱，其感官画像仍然调用第一问的预测体系。这个组织方式意味着，第一问的误差和标定不确定性也会影响第三问的画像，不能在生成环节忽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附件一的化学谱和附件四的专业感官数据构成监督学习主干，必须按同一款啤酒配对。附件二描述化合物间联系，附件五描述感官指标间联系，附件六提供部分化学与感官的交叉联系；这些材料可以用于核对和解释，但需要说明其计算样本范围。附件三主要提供评分卡结构和维度定义。附件八包含名称映射、校准浓度、单位和部分阈值，决定物理解释是否正确。附件七来自消费者评论的感官描述提取，词语出现与专业品评强度不具有完全相同的含义，适合作为辅助证据而非直接混入专业标签。数据来源的处理方式可参阅原始研究：https://pmc.ncbi.nlm.nih.gov/articles/PMC10966102/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附件核查得到二百五十款啤酒、二百三十一个化学、理化及综合指标、五十个专业感官指标和二十二种风格。化学矩阵一共缺失七十三个单元格，约占全部化学指标单元格的百分之零点一二六，因此总体缺失很少，重点应放在小样本、高维和尺度差异。专业感官中的香气和风味前缀各有十五项，题面所说约四十维的范围需要在正式求解中明确。交叉相关表实际是四十四乘五十；评论描述有一百八十六个变量，其中三列全缺失。这些是数据核查结果，不是模型指标。模型选择应控制估计方差，同时保留独立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四个问题需要优先澄清。第一，与附件八逐样本比较后，酸碱度的二百五十个值都与校准值的常用对数相符，酒精度等指标也发现同样对应关系；另一方面，部分其他列的大多数值近似原尺度，不能统一取指数。第二，化合物相关矩阵与重新计算的斯皮尔曼矩阵一致，最大差约为七乘十的负十六次方，与题面的皮尔逊描述不符。第三，优先使用唯一的beer字段连接样本，部分表中的长编号已损失精度，只剩九十六个不同值。第四，评分工作簿实际有十二张啤酒卡，空白选择会经公式得到零，因此零值不能作为真实零分标签。这些差异应在论文数据处理中说明依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问需要把两个目标分开。附件四的标准化感官值可以直接作为连续监督目标，用来评价不同啤酒的感官强弱和预测误差。原始零到六分的恢复则需要额外标定信息。原始研究先按品评者进行中心化和标准差缩放，再汇总到啤酒层面；缺少原始评分和相应参数时，不能从汇总后的标准化数值唯一恢复原来的等级。把这些值线性映射到零到六，只能定义一套新的分级规则。任务范围也应区分明确的三十项香气与风味指标，以及完整五十项专业感官指标。来源：https://pmc.ncbi.nlm.nih.gov/articles/PMC10966102/ ，Methods中的Trained panel部分。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建议将预测与标定组织为四步。第一步核实每列的变换和单位，在训练折内部完成填补与缩放。第二步用回归模型预测标准化感官强度，并逐维检查验证表现。第三步单独标定七级评分，有原始参考样本时优先利用它们，没有时明确披露浓度阈值、强度参考或专家锚点所形成的分级假设。第四步交付零到六分结果、预测区间以及规则敏感性。感知阈值只能辅助部分指标，不覆盖所有感官维度，也不能替代原始标签。应在报告中明确区分原始分数恢复和假设下的等级输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数量可以控制在两到三类，分别回答清楚的问题。岭回归提供稳定的高维线性基线，通过系数收缩减轻高度相关特征带来的波动。偏最小二乘回归用少量潜在成分组织化学信息，可研究共享信号，但成分数仍需在验证中选择。梯度提升树用于检验非线性和交互作用是否带来实际增益，需要限制复杂度，避免只看训练集拟合。总体缺失很少，先采用训练集列中位数填补即可，再检查更复杂填补是否确实改善验证结果。此处没有预先断言某个模型一定最优，所有方法都应在一致划分上比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交叉验证需要尊重类别样本数。最少的风格只有三款，因此可以从重复三折分层验证开始，再为调参设置合适的内层划分；这只是建议起点，不是固定最优方案。填补、缩放和筛选都必须留在训练折内部。对标准化连续目标逐维报告平均绝对误差、决定系数和秩相关，避免一个总体平均分掩盖难预测的维度。只有原始等级标签确实存在时，才能进一步计算等级误差或相差一级以内的准确率。最终结果应包括样本乘目标维度的预测表、逐维验证表现、七级标定规则，以及区间和敏感性说明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问的共表达图应真正参与变量筛选和解释。以化合物为节点，保留斯皮尔曼相关的强度与正负号，并通过不同阈值比较主要模块是否稳定。模块可以结合酒花、酵母代谢、麦芽或其他来源信息进行核对。图中的节点和连边只是方法示意，不代表已经估计出的实证网络，也不编码实际相关系数。筛选时可先识别共同变化的模块，再检验哪个化合物提供额外的感官预测信息。共变关系本身不能证明因果，负相关边也不能直接当作协同生成关系解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每个感官维度的前三名需要完整证据链。先用Elastic Net和树模型交叉比较，检查方向和预测贡献，而非只看单次重要性排序。高度相关的化合物可能相互分摊重要性，因此增加模块层面的置换检验，并报告可替代候选。再比较总体关系与控制风格后的关系，以判断某项重要性是否主要反映风格差异。最后结合浓度、阈值和典型感官描述论证化学合理性。单体化合物、理化参数和总酯等综合量应分别报告。最终每个前三名都应同时给出名称、作用方向、入选频率、方法一致性和解释依据；当前尚未计算实际排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稳定性可以从两个角度量化。第一，反复对原始啤酒样本做自助重采样，每次重新拟合和筛选；某个化合物进入某一感官维度前三名的次数，除以重采样总次数，就是其入选频率。第二，比较不同建模方法的前三名集合，交集大小除以并集大小就是Jaccard系数。重采样对象应是样本行，不能对相关矩阵的单元格随机抽样。若第三名在不同抽样或方法之间经常替换，应报告候选及其频率，而不是强行认定唯一第三名。同时区分单个化合物的稳定性与整个相关模块的稳定性。两个指标来自赛题建议，尚无本次计算结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分卡给出了若干典型描述，可以用来核对模型解释。乙酸异戊酯关联香蕉、梨和糖果描述，乙酸乙酯关联溶剂与指甲油，二甲基硫关联熟玉米和卷心菜，双乙酰关联黄油和奶油糖，反式二壬烯醛关联湿纸板与纸味。这些不是本次已经筛选出的前三名，只是已有的典型解释依据。论证还需要核对实际浓度、感知阈值、效应方向及可能的非线性，并检查风格内部是否成立。四乙烯基愈创木酚的感官评价与风格有关，但本赛题列出的缺陷约束仍应按题设执行。来源是附件三的评分卡描述及附件八的阈值资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问需要在小样本条件下学习风格分布。附件中Tripel有二十八款，Kriek十款，Lambic十一款，Faro仅三款，因此不宜为每一类分别估计一个复杂的高维分布。建议先使用共享潜在因子和风格参数的收缩估计。公式中，风格中心加上共享载荷乘潜在变量，再加残差，得到化学向量。共享结构由全体样本学习，各风格的中心和变异在数据不足时借用总体信息。风格均值谱是必要基线，但不能替代具有多样性的条件抽样。条件变分自编码器可以作为扩展，前提是验证表明其确实有增益，而不是因为名称更复杂就优先使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过程分为条件抽样、解码还原、化学校验和感官映射。给定风格后先抽取潜在向量，解码为基础指标，再按逐列记录还原变换并核对单位。总酯、总酸等派生指标应在计算定义明确后从单项重算，不能与单体浓度完全独立地随意生成；无法核实定义时，应明确剔除或单独处理。化学范围和依赖关系检查通过后，才调用第一问模型获得感官画像和不确定性。最终需要多款不同而合理的样本，均值谱只作为基线。画像的可信度仍然受到第一问预测误差和等级标定假设的限制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跨风格迁移可以看作目标风格合理性与最小改动之间的优化。例如把一款皮尔森或拉格的化学谱迁移到Tripel，第一项推动结果更符合目标风格的条件分布，第二项通过加权距离限制对原啤酒的改动。距离必须考虑变量的尺度和单位，不能直接把不同量纲的浓度差相加。除此之外还要加入缺陷约束，分别报告风格贴近程度、成分改动幅度和缺陷风险。若约束之间不相容，应报告不可行或只能部分迁移，不能通过忽略条件制造迁移成功的结果。本页是建议的优化形式，不是已经得到的求解结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题设列出了二甲基硫、双乙酰、四乙烯基愈创木酚、反式二壬烯醛和陈旧酒花等项。对具有可靠浓度与阈值的化合物，可以用浓度除以阈值减一后与零取较大值，表示超阈值程度，并要求迁移后该值不增加。浓度与阈值的单位必须一致。附件里反式二壬烯醛的阈值未填完整，需要补充有依据的数值；若暂时无法补齐，可研究浓度不增加这一更保守的替代，同时说明区别。陈旧酒花是感官描述，不能伪装成同名单体化合物浓度。若通过感官模型施加约束，只能声称预测风险未增加，不能等同于实际感官实验保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与迁移至少从四方面验收。首先检查浓度和理化参数是否位于合理范围，以及单项和派生量是否一致。其次比较目标风格的边际分布和相关结构，风格分类器可以提供辅助证据，但判对标签不能单独证明样本合理。第三检查多样性、覆盖范围和与训练样本的近邻距离，识别是否只是复制已有啤酒。第四逐项对比迁移前后的风格贴近程度、成分改动和缺陷风险。生成器只能在训练数据上估计，小风格的检验区间通常也更不确定。当前没有生成样本或迁移成功率，本页给出的是拟采用的验收设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际实施建议分四阶段验收。数据阶段交付可追溯的字段字典、样本连接检查、变换和单位记录。预测阶段交付逐维结果、验证误差与等级标定说明，并保留不确定性。解释阶段交付前三名、方向、稳定性和化学依据，对不稳定项给出替代候选。生成阶段交付候选化学谱、感官画像、迁移前后对照和逐项约束检查。四个阶段共同保存训练测试划分、随机种子、处理记录、来源和可复现代码。本次演示文稿是对研究思路和验证方案的整理，不包含模型求解和实验效果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工作的优先级是先厘清数据尺度和样本关系，再建立感官预测，最后开展解释与风格设计。第一问提供可靠画像，第二问提供稳定的关键因素证据，第三问提供受约束的候选化合物谱。当前最需要补证的是原始零到六分的绝对标定和部分缺陷阈值，这些问题比增加模型数量更优先。生成谱统计上合理，也不代表已经证明可以通过实际酿造工艺实现。资料依据包括本赛题与八组附件、Schreurs等人在二〇二四年发表于Nature Communications的原始研究，以及Zenodo公开数据和代码。原文：https://pmc.ncbi.nlm.nih.gov/articles/PMC10966102/ ，DOI：https://doi.org/10.1038/s41467-024-46346-0 ，仓库：https://zenodo.org/records/10653704 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thorCup2026A_analy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thorCup2026A_analy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title"/>
          <p:cNvGrpSpPr/>
          <p:nvPr/>
        </p:nvGrpSpPr>
        <p:grpSpPr>
          <a:xfrm>
            <a:off x="590550" y="806450"/>
            <a:ext cx="10934700" cy="2022475"/>
            <a:chOff x="590550" y="806450"/>
            <a:chExt cx="10934700" cy="2022475"/>
          </a:xfrm>
        </p:grpSpPr>
        <p:sp>
          <p:nvSpPr>
            <p:cNvPr id="2" name="TextBox 2"/>
            <p:cNvSpPr txBox="1"/>
            <p:nvPr/>
          </p:nvSpPr>
          <p:spPr>
            <a:xfrm>
              <a:off x="640842" y="806450"/>
              <a:ext cx="35421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 MathorCup 大数据竞赛 · 赛道 A 初赛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219200"/>
              <a:ext cx="400659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啤酒风味预测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3222" y="212725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赛题解析与建模方案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47700" y="2819400"/>
              <a:ext cx="10877550" cy="9525"/>
            </a:xfrm>
            <a:custGeom>
              <a:avLst/>
              <a:gdLst/>
              <a:ahLst/>
              <a:cxnLst/>
              <a:rect l="l" t="t" r="r" b="b"/>
              <a:pathLst>
                <a:path w="10877550" h="9525">
                  <a:moveTo>
                    <a:pt x="0" y="0"/>
                  </a:moveTo>
                  <a:lnTo>
                    <a:pt x="108775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1" name="research-scope"/>
          <p:cNvGrpSpPr/>
          <p:nvPr/>
        </p:nvGrpSpPr>
        <p:grpSpPr>
          <a:xfrm>
            <a:off x="637032" y="3451225"/>
            <a:ext cx="4912081" cy="1886458"/>
            <a:chOff x="637032" y="3451225"/>
            <a:chExt cx="4912081" cy="1886458"/>
          </a:xfrm>
        </p:grpSpPr>
        <p:sp>
          <p:nvSpPr>
            <p:cNvPr id="7" name="TextBox 7"/>
            <p:cNvSpPr txBox="1"/>
            <p:nvPr/>
          </p:nvSpPr>
          <p:spPr>
            <a:xfrm>
              <a:off x="637032" y="3451225"/>
              <a:ext cx="49120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感官预测 / 关键化合物解释 / 风格生成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8556" y="40894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以统一的数据核实与预测体系支撑三问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8556" y="46418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研究方案与验证设计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842" y="50736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尚未训练模型，不展示未经验证的实验结果</a:t>
              </a:r>
            </a:p>
          </p:txBody>
        </p:sp>
      </p:grpSp>
      <p:grpSp>
        <p:nvGrpSpPr>
          <p:cNvPr id="15" name="sample-hook"/>
          <p:cNvGrpSpPr/>
          <p:nvPr/>
        </p:nvGrpSpPr>
        <p:grpSpPr>
          <a:xfrm>
            <a:off x="8362950" y="3524250"/>
            <a:ext cx="2693670" cy="1660144"/>
            <a:chOff x="8362950" y="3524250"/>
            <a:chExt cx="2693670" cy="1660144"/>
          </a:xfrm>
        </p:grpSpPr>
        <p:sp>
          <p:nvSpPr>
            <p:cNvPr id="12" name="TextBox 12"/>
            <p:cNvSpPr txBox="1"/>
            <p:nvPr/>
          </p:nvSpPr>
          <p:spPr>
            <a:xfrm>
              <a:off x="8362950" y="3524250"/>
              <a:ext cx="107097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1332" y="42989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款啤酒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72856" y="48323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三类任务，一套数据基础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40842" y="6350000"/>
            <a:ext cx="10710177" cy="264033"/>
            <a:chOff x="640842" y="6350000"/>
            <a:chExt cx="10710177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40842" y="6350000"/>
              <a:ext cx="394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赛题与附件核查基础上的方法讨论 · 2026.10.25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37392" y="63500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研究框架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三问的统一研究框架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foundation"/>
          <p:cNvGrpSpPr/>
          <p:nvPr/>
        </p:nvGrpSpPr>
        <p:grpSpPr>
          <a:xfrm>
            <a:off x="533400" y="1581150"/>
            <a:ext cx="11125200" cy="866775"/>
            <a:chOff x="533400" y="1581150"/>
            <a:chExt cx="11125200" cy="866775"/>
          </a:xfrm>
        </p:grpSpPr>
        <p:sp>
          <p:nvSpPr>
            <p:cNvPr id="6" name="Rectangle 6"/>
            <p:cNvSpPr/>
            <p:nvPr/>
          </p:nvSpPr>
          <p:spPr>
            <a:xfrm>
              <a:off x="533400" y="1581150"/>
              <a:ext cx="11125200" cy="866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167005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共同基础：尺度、单位、样本连接与训练测试边界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21018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先建立可信的数据字典，再复用同一套处理规则</a:t>
              </a:r>
            </a:p>
          </p:txBody>
        </p:sp>
      </p:grpSp>
      <p:grpSp>
        <p:nvGrpSpPr>
          <p:cNvPr id="25" name="three-tasks"/>
          <p:cNvGrpSpPr/>
          <p:nvPr/>
        </p:nvGrpSpPr>
        <p:grpSpPr>
          <a:xfrm>
            <a:off x="526542" y="2905125"/>
            <a:ext cx="11132058" cy="2156333"/>
            <a:chOff x="526542" y="2905125"/>
            <a:chExt cx="11132058" cy="2156333"/>
          </a:xfrm>
        </p:grpSpPr>
        <p:sp>
          <p:nvSpPr>
            <p:cNvPr id="10" name="Line 10"/>
            <p:cNvSpPr/>
            <p:nvPr/>
          </p:nvSpPr>
          <p:spPr>
            <a:xfrm>
              <a:off x="3286125" y="3476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381875" y="3476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" y="2905125"/>
              <a:ext cx="295275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19625" y="2905125"/>
              <a:ext cx="295275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705850" y="2905125"/>
              <a:ext cx="295275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142" y="3111500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4417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预测感官与标定等级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856" y="3927475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化学谱 → 感官画像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1367" y="3111500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37557" y="34417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解释关键化合物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9081" y="3927475"/>
              <a:ext cx="20192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 → 稳定 Top-3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27592" y="3111500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23782" y="34417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生成与风格迁移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5306" y="3927475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风格条件 + 缺陷约束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542" y="4797425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流程是本分析的组织方式；解释证据与生成画像共用第一问的感官映射。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22732" y="5489575"/>
            <a:ext cx="6240780" cy="410718"/>
            <a:chOff x="522732" y="5489575"/>
            <a:chExt cx="6240780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522732" y="548957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先把感官映射做可靠，再讨论化学解释和风格设计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369050"/>
              <a:ext cx="3403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依据：赛题问题1–3；方法关系为分析整理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数据基础 · 附件角色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28666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附件的使用分工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training-spine"/>
          <p:cNvGrpSpPr/>
          <p:nvPr/>
        </p:nvGrpSpPr>
        <p:grpSpPr>
          <a:xfrm>
            <a:off x="533400" y="1619250"/>
            <a:ext cx="6619875" cy="2381250"/>
            <a:chOff x="533400" y="1619250"/>
            <a:chExt cx="6619875" cy="2381250"/>
          </a:xfrm>
        </p:grpSpPr>
        <p:sp>
          <p:nvSpPr>
            <p:cNvPr id="6" name="Rectangle 6"/>
            <p:cNvSpPr/>
            <p:nvPr/>
          </p:nvSpPr>
          <p:spPr>
            <a:xfrm>
              <a:off x="533400" y="1619250"/>
              <a:ext cx="6619875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77482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训练主干：配对的样本与专业感官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" y="2393950"/>
              <a:ext cx="17316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1.csv 化学谱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57500" y="257175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75582" y="2393950"/>
              <a:ext cx="20143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4.csv 感官标签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1906" y="2994025"/>
              <a:ext cx="28776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beer 唯一标识连接样本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1906" y="34036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预测输入与验证目标保持同一款啤酒</a:t>
              </a:r>
            </a:p>
          </p:txBody>
        </p:sp>
      </p:grpSp>
      <p:grpSp>
        <p:nvGrpSpPr>
          <p:cNvPr id="19" name="supporting-evidence"/>
          <p:cNvGrpSpPr/>
          <p:nvPr/>
        </p:nvGrpSpPr>
        <p:grpSpPr>
          <a:xfrm>
            <a:off x="7561707" y="1746250"/>
            <a:ext cx="2915488" cy="2410333"/>
            <a:chOff x="7561707" y="1746250"/>
            <a:chExt cx="2915488" cy="2410333"/>
          </a:xfrm>
        </p:grpSpPr>
        <p:sp>
          <p:nvSpPr>
            <p:cNvPr id="14" name="TextBox 14"/>
            <p:cNvSpPr txBox="1"/>
            <p:nvPr/>
          </p:nvSpPr>
          <p:spPr>
            <a:xfrm>
              <a:off x="7561707" y="17462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关系、定义与单位依据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3231" y="2317750"/>
              <a:ext cx="29139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/ 5 / 6：化学与感官联系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3231" y="2794000"/>
              <a:ext cx="2332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3：评分卡与维度定义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3231" y="327025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8：名称、校准浓度与阈值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5517" y="38925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用于核对和解释，使用范围需明确</a:t>
              </a:r>
            </a:p>
          </p:txBody>
        </p:sp>
      </p:grpSp>
      <p:grpSp>
        <p:nvGrpSpPr>
          <p:cNvPr id="24" name="consumer-descriptors"/>
          <p:cNvGrpSpPr/>
          <p:nvPr/>
        </p:nvGrpSpPr>
        <p:grpSpPr>
          <a:xfrm>
            <a:off x="522732" y="4486275"/>
            <a:ext cx="11135868" cy="1356233"/>
            <a:chOff x="522732" y="4486275"/>
            <a:chExt cx="11135868" cy="1356233"/>
          </a:xfrm>
        </p:grpSpPr>
        <p:sp>
          <p:nvSpPr>
            <p:cNvPr id="20" name="Line 20"/>
            <p:cNvSpPr/>
            <p:nvPr/>
          </p:nvSpPr>
          <p:spPr>
            <a:xfrm>
              <a:off x="533400" y="44862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2732" y="4670425"/>
              <a:ext cx="50392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7.csv：消费者评论描述，作为辅助证据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256" y="516572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词语出现与专业品评强度具有不同含义，不能直接混成同一种标签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542" y="5578475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其数据来源和解释应与4.csv分开记录。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526542" y="6369050"/>
              <a:ext cx="5217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依据：附件1–8；原始研究 Methods（Schreurs et al., 2024）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数据基础 · 已核实事实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实际数据规模与方法约束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sample-size"/>
          <p:cNvGrpSpPr/>
          <p:nvPr/>
        </p:nvGrpSpPr>
        <p:grpSpPr>
          <a:xfrm>
            <a:off x="514350" y="1714500"/>
            <a:ext cx="1239774" cy="1202944"/>
            <a:chOff x="514350" y="1714500"/>
            <a:chExt cx="1239774" cy="120294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714500"/>
              <a:ext cx="107097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5654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款啤酒样本</a:t>
              </a:r>
            </a:p>
          </p:txBody>
        </p:sp>
      </p:grpSp>
      <p:grpSp>
        <p:nvGrpSpPr>
          <p:cNvPr id="11" name="chemical-dimensions"/>
          <p:cNvGrpSpPr/>
          <p:nvPr/>
        </p:nvGrpSpPr>
        <p:grpSpPr>
          <a:xfrm>
            <a:off x="3457575" y="1714500"/>
            <a:ext cx="1724406" cy="1202944"/>
            <a:chOff x="3457575" y="1714500"/>
            <a:chExt cx="1724406" cy="1202944"/>
          </a:xfrm>
        </p:grpSpPr>
        <p:sp>
          <p:nvSpPr>
            <p:cNvPr id="9" name="TextBox 9"/>
            <p:cNvSpPr txBox="1"/>
            <p:nvPr/>
          </p:nvSpPr>
          <p:spPr>
            <a:xfrm>
              <a:off x="3457575" y="1714500"/>
              <a:ext cx="107097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231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67481" y="25654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化学及综合指标</a:t>
              </a:r>
            </a:p>
          </p:txBody>
        </p:sp>
      </p:grpSp>
      <p:grpSp>
        <p:nvGrpSpPr>
          <p:cNvPr id="14" name="sensory-dimensions"/>
          <p:cNvGrpSpPr/>
          <p:nvPr/>
        </p:nvGrpSpPr>
        <p:grpSpPr>
          <a:xfrm>
            <a:off x="6410325" y="1714500"/>
            <a:ext cx="1482090" cy="1202944"/>
            <a:chOff x="6410325" y="1714500"/>
            <a:chExt cx="1482090" cy="1202944"/>
          </a:xfrm>
        </p:grpSpPr>
        <p:sp>
          <p:nvSpPr>
            <p:cNvPr id="12" name="TextBox 12"/>
            <p:cNvSpPr txBox="1"/>
            <p:nvPr/>
          </p:nvSpPr>
          <p:spPr>
            <a:xfrm>
              <a:off x="6410325" y="1714500"/>
              <a:ext cx="726681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20231" y="25654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专业感官指标</a:t>
              </a:r>
            </a:p>
          </p:txBody>
        </p:sp>
      </p:grpSp>
      <p:grpSp>
        <p:nvGrpSpPr>
          <p:cNvPr id="17" name="styles"/>
          <p:cNvGrpSpPr/>
          <p:nvPr/>
        </p:nvGrpSpPr>
        <p:grpSpPr>
          <a:xfrm>
            <a:off x="9315450" y="1714500"/>
            <a:ext cx="997458" cy="1202944"/>
            <a:chOff x="9315450" y="1714500"/>
            <a:chExt cx="997458" cy="1202944"/>
          </a:xfrm>
        </p:grpSpPr>
        <p:sp>
          <p:nvSpPr>
            <p:cNvPr id="15" name="TextBox 15"/>
            <p:cNvSpPr txBox="1"/>
            <p:nvPr/>
          </p:nvSpPr>
          <p:spPr>
            <a:xfrm>
              <a:off x="9315450" y="1714500"/>
              <a:ext cx="726681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25356" y="25654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啤酒风格</a:t>
              </a:r>
            </a:p>
          </p:txBody>
        </p:sp>
      </p:grpSp>
      <p:grpSp>
        <p:nvGrpSpPr>
          <p:cNvPr id="23" name="data-audit-details"/>
          <p:cNvGrpSpPr/>
          <p:nvPr/>
        </p:nvGrpSpPr>
        <p:grpSpPr>
          <a:xfrm>
            <a:off x="524256" y="3495675"/>
            <a:ext cx="11134344" cy="1937258"/>
            <a:chOff x="524256" y="3495675"/>
            <a:chExt cx="11134344" cy="1937258"/>
          </a:xfrm>
        </p:grpSpPr>
        <p:sp>
          <p:nvSpPr>
            <p:cNvPr id="18" name="Line 18"/>
            <p:cNvSpPr/>
            <p:nvPr/>
          </p:nvSpPr>
          <p:spPr>
            <a:xfrm>
              <a:off x="533400" y="34956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4256" y="3727450"/>
              <a:ext cx="6651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化学缺失：73 个单元格，约占全部化学指标单元格的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0.126%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256" y="4213225"/>
              <a:ext cx="64204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Aroma 与 Flavour 各 15 项；“约40维”的任务口径需要说明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256" y="469900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6.csv 实际为 44×50；7.csv 有186个描述变量，其中3列全缺失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542" y="51689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总体缺失很少，小样本、高维和尺度差异更值得优先处理。</a:t>
              </a:r>
            </a:p>
          </p:txBody>
        </p:sp>
      </p:grpSp>
      <p:grpSp>
        <p:nvGrpSpPr>
          <p:cNvPr id="25" name="implication"/>
          <p:cNvGrpSpPr/>
          <p:nvPr/>
        </p:nvGrpSpPr>
        <p:grpSpPr>
          <a:xfrm>
            <a:off x="522732" y="5651500"/>
            <a:ext cx="4827270" cy="410718"/>
            <a:chOff x="522732" y="5651500"/>
            <a:chExt cx="4827270" cy="410718"/>
          </a:xfrm>
        </p:grpSpPr>
        <p:sp>
          <p:nvSpPr>
            <p:cNvPr id="24" name="TextBox 24"/>
            <p:cNvSpPr txBox="1"/>
            <p:nvPr/>
          </p:nvSpPr>
          <p:spPr>
            <a:xfrm>
              <a:off x="522732" y="565150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模型选择应控制方差，并保留独立验证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6369050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依据：附件1、4、6、7的维度与缺失值核查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数据基础 · 关键差异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570433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四个会影响全篇结论的数据问题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scale"/>
          <p:cNvGrpSpPr/>
          <p:nvPr/>
        </p:nvGrpSpPr>
        <p:grpSpPr>
          <a:xfrm>
            <a:off x="522732" y="1679575"/>
            <a:ext cx="3894353" cy="1600708"/>
            <a:chOff x="522732" y="1679575"/>
            <a:chExt cx="3894353" cy="160070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679575"/>
              <a:ext cx="21133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逐列核实变换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174875"/>
              <a:ext cx="3892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 的250个值与 log10(校准值)一致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253682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酒精度等也发现相同对应关系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6542" y="30162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部分其他列近似原尺度，不能统一取指数</a:t>
              </a:r>
            </a:p>
          </p:txBody>
        </p:sp>
      </p:grpSp>
      <p:grpSp>
        <p:nvGrpSpPr>
          <p:cNvPr id="15" name="correlation"/>
          <p:cNvGrpSpPr/>
          <p:nvPr/>
        </p:nvGrpSpPr>
        <p:grpSpPr>
          <a:xfrm>
            <a:off x="6371082" y="1679575"/>
            <a:ext cx="3724046" cy="1600708"/>
            <a:chOff x="6371082" y="1679575"/>
            <a:chExt cx="3724046" cy="1600708"/>
          </a:xfrm>
        </p:grpSpPr>
        <p:sp>
          <p:nvSpPr>
            <p:cNvPr id="11" name="TextBox 11"/>
            <p:cNvSpPr txBox="1"/>
            <p:nvPr/>
          </p:nvSpPr>
          <p:spPr>
            <a:xfrm>
              <a:off x="6371082" y="1679575"/>
              <a:ext cx="21133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相关系数类型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2606" y="2174875"/>
              <a:ext cx="3722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2.csv 与重算 Spearman 矩阵一致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2606" y="2536825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最大差约 7×10⁻¹⁶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74892" y="3016250"/>
              <a:ext cx="33183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题面写 Pearson，论文中应交代核实依据</a:t>
              </a:r>
            </a:p>
          </p:txBody>
        </p:sp>
      </p:grpSp>
      <p:grpSp>
        <p:nvGrpSpPr>
          <p:cNvPr id="20" name="join-key"/>
          <p:cNvGrpSpPr/>
          <p:nvPr/>
        </p:nvGrpSpPr>
        <p:grpSpPr>
          <a:xfrm>
            <a:off x="522732" y="3927475"/>
            <a:ext cx="3727247" cy="1629283"/>
            <a:chOff x="522732" y="3927475"/>
            <a:chExt cx="3727247" cy="1629283"/>
          </a:xfrm>
        </p:grpSpPr>
        <p:sp>
          <p:nvSpPr>
            <p:cNvPr id="16" name="TextBox 16"/>
            <p:cNvSpPr txBox="1"/>
            <p:nvPr/>
          </p:nvSpPr>
          <p:spPr>
            <a:xfrm>
              <a:off x="522732" y="3927475"/>
              <a:ext cx="18306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样本连接键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4422775"/>
              <a:ext cx="28776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优先以 beer 唯一标识连接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256" y="4784725"/>
              <a:ext cx="3725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部分表的 beer_id 只剩96个不同值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542" y="529272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已损失精度的编号会造成错误匹配</a:t>
              </a:r>
            </a:p>
          </p:txBody>
        </p:sp>
      </p:grpSp>
      <p:grpSp>
        <p:nvGrpSpPr>
          <p:cNvPr id="25" name="template-zero"/>
          <p:cNvGrpSpPr/>
          <p:nvPr/>
        </p:nvGrpSpPr>
        <p:grpSpPr>
          <a:xfrm>
            <a:off x="6371082" y="3927475"/>
            <a:ext cx="3521278" cy="1629283"/>
            <a:chOff x="6371082" y="3927475"/>
            <a:chExt cx="3521278" cy="1629283"/>
          </a:xfrm>
        </p:grpSpPr>
        <p:sp>
          <p:nvSpPr>
            <p:cNvPr id="21" name="TextBox 21"/>
            <p:cNvSpPr txBox="1"/>
            <p:nvPr/>
          </p:nvSpPr>
          <p:spPr>
            <a:xfrm>
              <a:off x="6371082" y="3927475"/>
              <a:ext cx="15479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模板零值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2606" y="4422775"/>
              <a:ext cx="3519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3.xlsx 实际包含12张啤酒评分卡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2606" y="478472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空白选项经公式得到零值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4892" y="529272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模板输出零不能当作真实零分标签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6369050"/>
              <a:ext cx="4693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依据：附件1、2、3、4与8的逐项核对；数值差为重算结果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1 · 评分的含义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61097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先明确评分含义，再选择预测模型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standardized-prediction"/>
          <p:cNvGrpSpPr/>
          <p:nvPr/>
        </p:nvGrpSpPr>
        <p:grpSpPr>
          <a:xfrm>
            <a:off x="518922" y="1955800"/>
            <a:ext cx="3166872" cy="1888744"/>
            <a:chOff x="518922" y="1955800"/>
            <a:chExt cx="3166872" cy="1888744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9558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可以监督学习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922" y="2441575"/>
              <a:ext cx="28666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标准化感官预测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3130550"/>
              <a:ext cx="316153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用4.csv的连续值训练感官映射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验证相对强弱和逐维预测误差</a:t>
              </a:r>
            </a:p>
          </p:txBody>
        </p:sp>
      </p:grpSp>
      <p:grpSp>
        <p:nvGrpSpPr>
          <p:cNvPr id="13" name="raw-grade-recovery"/>
          <p:cNvGrpSpPr/>
          <p:nvPr/>
        </p:nvGrpSpPr>
        <p:grpSpPr>
          <a:xfrm>
            <a:off x="6414897" y="1955800"/>
            <a:ext cx="2995422" cy="1888744"/>
            <a:chOff x="6414897" y="1955800"/>
            <a:chExt cx="2995422" cy="1888744"/>
          </a:xfrm>
        </p:grpSpPr>
        <p:sp>
          <p:nvSpPr>
            <p:cNvPr id="10" name="TextBox 10"/>
            <p:cNvSpPr txBox="1"/>
            <p:nvPr/>
          </p:nvSpPr>
          <p:spPr>
            <a:xfrm>
              <a:off x="6418707" y="19558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需要额外标定依据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4897" y="2454275"/>
              <a:ext cx="29191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原始 0–6 分恢复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20231" y="3130550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品评者内标准化后再汇总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缺少原始记录时无法唯一逆转</a:t>
              </a:r>
            </a:p>
          </p:txBody>
        </p:sp>
      </p:grpSp>
      <p:grpSp>
        <p:nvGrpSpPr>
          <p:cNvPr id="18" name="identifiability"/>
          <p:cNvGrpSpPr/>
          <p:nvPr/>
        </p:nvGrpSpPr>
        <p:grpSpPr>
          <a:xfrm>
            <a:off x="533400" y="4524375"/>
            <a:ext cx="11125200" cy="1381125"/>
            <a:chOff x="533400" y="4524375"/>
            <a:chExt cx="11125200" cy="1381125"/>
          </a:xfrm>
        </p:grpSpPr>
        <p:sp>
          <p:nvSpPr>
            <p:cNvPr id="14" name="Rectangle 14"/>
            <p:cNvSpPr/>
            <p:nvPr/>
          </p:nvSpPr>
          <p:spPr>
            <a:xfrm>
              <a:off x="533400" y="4524375"/>
              <a:ext cx="11125200" cy="1381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332" y="46990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明确两项边界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856" y="5175250"/>
              <a:ext cx="5827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范围：Aroma / Flavour共30项，或完整50项感官指标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557847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简单线性缩放只能定义新分级，不能证明恢复了原始七级评分。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6369050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依据：附件3、4；原始研究感官评分标准化方法（2024）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1 · 解题路线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0827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预测与标定分两步完成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prediction-sequence"/>
          <p:cNvGrpSpPr/>
          <p:nvPr/>
        </p:nvGrpSpPr>
        <p:grpSpPr>
          <a:xfrm>
            <a:off x="522732" y="1857375"/>
            <a:ext cx="10669143" cy="1844294"/>
            <a:chOff x="522732" y="1857375"/>
            <a:chExt cx="10669143" cy="1844294"/>
          </a:xfrm>
        </p:grpSpPr>
        <p:sp>
          <p:nvSpPr>
            <p:cNvPr id="6" name="Line 6"/>
            <p:cNvSpPr/>
            <p:nvPr/>
          </p:nvSpPr>
          <p:spPr>
            <a:xfrm>
              <a:off x="857250" y="2085975"/>
              <a:ext cx="10334625" cy="9525"/>
            </a:xfrm>
            <a:custGeom>
              <a:avLst/>
              <a:gdLst/>
              <a:ahLst/>
              <a:cxnLst/>
              <a:rect l="l" t="t" r="r" b="b"/>
              <a:pathLst>
                <a:path w="10334625" h="9525">
                  <a:moveTo>
                    <a:pt x="0" y="0"/>
                  </a:moveTo>
                  <a:lnTo>
                    <a:pt x="1033462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85737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486150" y="185737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362700" y="185737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39250" y="185737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62381" y="1943100"/>
              <a:ext cx="8781212" cy="352044"/>
              <a:chOff x="762381" y="1943100"/>
              <a:chExt cx="8781212" cy="35204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62381" y="19431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638931" y="19431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15481" y="19431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2031" y="19431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2732" y="25463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数据准备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2987675"/>
              <a:ext cx="2075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核实变换与单位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训练折内填补、缩放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9282" y="25463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感官回归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00806" y="2987675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预测标准化强度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逐维验证泛化表现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5832" y="25463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等级标定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7356" y="2987675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优先使用原始锚点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无锚点则披露假设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52382" y="25463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结果交付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53906" y="2987675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0–6分与区间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标定规则及敏感性</a:t>
              </a:r>
            </a:p>
          </p:txBody>
        </p:sp>
      </p:grpSp>
      <p:grpSp>
        <p:nvGrpSpPr>
          <p:cNvPr id="28" name="calibration-rule"/>
          <p:cNvGrpSpPr/>
          <p:nvPr/>
        </p:nvGrpSpPr>
        <p:grpSpPr>
          <a:xfrm>
            <a:off x="522732" y="4667250"/>
            <a:ext cx="11135868" cy="1088644"/>
            <a:chOff x="522732" y="4667250"/>
            <a:chExt cx="11135868" cy="1088644"/>
          </a:xfrm>
        </p:grpSpPr>
        <p:sp>
          <p:nvSpPr>
            <p:cNvPr id="25" name="Line 25"/>
            <p:cNvSpPr/>
            <p:nvPr/>
          </p:nvSpPr>
          <p:spPr>
            <a:xfrm>
              <a:off x="533400" y="4667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2732" y="487997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把原始分数恢复，与假设下的等级输出分开陈述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4256" y="540385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感知阈值可辅助标定，但不能覆盖所有维度或代替原始标签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6369050"/>
              <a:ext cx="376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方法建议；依据：附件1、4、8与原始研究方法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1 · 模型取舍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少量模型，回答明确问题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ridge-model"/>
          <p:cNvGrpSpPr/>
          <p:nvPr/>
        </p:nvGrpSpPr>
        <p:grpSpPr>
          <a:xfrm>
            <a:off x="522732" y="1755775"/>
            <a:ext cx="7908798" cy="790194"/>
            <a:chOff x="522732" y="1755775"/>
            <a:chExt cx="7908798" cy="790194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75577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岭回归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24606" y="17938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稳定的高维线性基线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24606" y="219392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收缩相关特征的系数，减少小样本下的估计波动</a:t>
              </a:r>
            </a:p>
          </p:txBody>
        </p:sp>
      </p:grpSp>
      <p:grpSp>
        <p:nvGrpSpPr>
          <p:cNvPr id="14" name="pls-model"/>
          <p:cNvGrpSpPr/>
          <p:nvPr/>
        </p:nvGrpSpPr>
        <p:grpSpPr>
          <a:xfrm>
            <a:off x="522732" y="2847975"/>
            <a:ext cx="11135868" cy="926719"/>
            <a:chOff x="522732" y="2847975"/>
            <a:chExt cx="11135868" cy="926719"/>
          </a:xfrm>
        </p:grpSpPr>
        <p:sp>
          <p:nvSpPr>
            <p:cNvPr id="10" name="Line 10"/>
            <p:cNvSpPr/>
            <p:nvPr/>
          </p:nvSpPr>
          <p:spPr>
            <a:xfrm>
              <a:off x="533400" y="28479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732" y="2984500"/>
              <a:ext cx="20173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偏最小二乘 PLS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606" y="30226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用少量潜在成分组织化学信息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4606" y="342265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适合检验共线性下的共享信号，并明确成分数选择</a:t>
              </a:r>
            </a:p>
          </p:txBody>
        </p:sp>
      </p:grpSp>
      <p:grpSp>
        <p:nvGrpSpPr>
          <p:cNvPr id="19" name="gradient-boosting"/>
          <p:cNvGrpSpPr/>
          <p:nvPr/>
        </p:nvGrpSpPr>
        <p:grpSpPr>
          <a:xfrm>
            <a:off x="522732" y="4048125"/>
            <a:ext cx="11135868" cy="926719"/>
            <a:chOff x="522732" y="4048125"/>
            <a:chExt cx="11135868" cy="926719"/>
          </a:xfrm>
        </p:grpSpPr>
        <p:sp>
          <p:nvSpPr>
            <p:cNvPr id="15" name="Line 15"/>
            <p:cNvSpPr/>
            <p:nvPr/>
          </p:nvSpPr>
          <p:spPr>
            <a:xfrm>
              <a:off x="533400" y="4048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" y="41846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梯度提升树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24606" y="422275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检验非线性和交互是否带来增益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4606" y="46228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限制复杂度，以验证集表现选择，而非只看训练拟合</a:t>
              </a:r>
            </a:p>
          </p:txBody>
        </p:sp>
      </p:grpSp>
      <p:grpSp>
        <p:nvGrpSpPr>
          <p:cNvPr id="21" name="minimal-baseline"/>
          <p:cNvGrpSpPr/>
          <p:nvPr/>
        </p:nvGrpSpPr>
        <p:grpSpPr>
          <a:xfrm>
            <a:off x="524256" y="5499100"/>
            <a:ext cx="6803136" cy="352044"/>
            <a:chOff x="524256" y="5499100"/>
            <a:chExt cx="6803136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524256" y="549910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缺失填补先采用训练集列中位数，再判断复杂方法是否值得加入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526542" y="63690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模型为待验证方案；尚无本赛题模型性能结果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1 · 验收标准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验证标准与结果边界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cross-validation"/>
          <p:cNvGrpSpPr/>
          <p:nvPr/>
        </p:nvGrpSpPr>
        <p:grpSpPr>
          <a:xfrm>
            <a:off x="522732" y="1755775"/>
            <a:ext cx="4386072" cy="1562608"/>
            <a:chOff x="522732" y="1755775"/>
            <a:chExt cx="4386072" cy="156260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7557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交叉验证：尊重小类别样本数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187575"/>
              <a:ext cx="43845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最小风格仅3款，可从重复3折分层验证开始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调参另设合适内层划分，预处理限于训练折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6542" y="30543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这是建议起点，不是保证最优的固定方案。</a:t>
              </a:r>
            </a:p>
          </p:txBody>
        </p:sp>
      </p:grpSp>
      <p:grpSp>
        <p:nvGrpSpPr>
          <p:cNvPr id="14" name="metrics"/>
          <p:cNvGrpSpPr/>
          <p:nvPr/>
        </p:nvGrpSpPr>
        <p:grpSpPr>
          <a:xfrm>
            <a:off x="522732" y="3765550"/>
            <a:ext cx="4623816" cy="1648333"/>
            <a:chOff x="522732" y="3765550"/>
            <a:chExt cx="4623816" cy="1648333"/>
          </a:xfrm>
        </p:grpSpPr>
        <p:sp>
          <p:nvSpPr>
            <p:cNvPr id="10" name="TextBox 10"/>
            <p:cNvSpPr txBox="1"/>
            <p:nvPr/>
          </p:nvSpPr>
          <p:spPr>
            <a:xfrm>
              <a:off x="522732" y="37655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指标：按维度、按目标尺度报告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4270375"/>
              <a:ext cx="4319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连续目标：MAE、R²、Spearman秩相关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256" y="467042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原始等级存在：再评价相差一级以内准确率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542" y="51498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没有原始等级时，不报告原始等级预测准确率。</a:t>
              </a:r>
            </a:p>
          </p:txBody>
        </p:sp>
      </p:grpSp>
      <p:grpSp>
        <p:nvGrpSpPr>
          <p:cNvPr id="22" name="deliverables"/>
          <p:cNvGrpSpPr/>
          <p:nvPr/>
        </p:nvGrpSpPr>
        <p:grpSpPr>
          <a:xfrm>
            <a:off x="7858125" y="1657350"/>
            <a:ext cx="3800475" cy="4171950"/>
            <a:chOff x="7858125" y="1657350"/>
            <a:chExt cx="3800475" cy="4171950"/>
          </a:xfrm>
        </p:grpSpPr>
        <p:sp>
          <p:nvSpPr>
            <p:cNvPr id="15" name="Rectangle 15"/>
            <p:cNvSpPr/>
            <p:nvPr/>
          </p:nvSpPr>
          <p:spPr>
            <a:xfrm>
              <a:off x="7858125" y="1657350"/>
              <a:ext cx="3800475" cy="417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95107" y="18224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应交付什么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96631" y="2441575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 × 目标维度结果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96631" y="29559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逐维交叉验证误差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6631" y="3470275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0–6分标定规则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96631" y="3984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区间与敏感性说明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98917" y="4768850"/>
              <a:ext cx="24140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保留弱项和不确定性，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避免用平均分掩盖难预测维度。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526542" y="6369050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依据：附件1的风格计数；其余为建议验证设计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2 · 共表达网络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让共表达图参与筛选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schematic-network"/>
          <p:cNvGrpSpPr/>
          <p:nvPr/>
        </p:nvGrpSpPr>
        <p:grpSpPr>
          <a:xfrm>
            <a:off x="533400" y="1619250"/>
            <a:ext cx="5000625" cy="3714750"/>
            <a:chOff x="533400" y="1619250"/>
            <a:chExt cx="5000625" cy="3714750"/>
          </a:xfrm>
        </p:grpSpPr>
        <p:sp>
          <p:nvSpPr>
            <p:cNvPr id="6" name="Rectangle 6"/>
            <p:cNvSpPr/>
            <p:nvPr/>
          </p:nvSpPr>
          <p:spPr>
            <a:xfrm>
              <a:off x="533400" y="1619250"/>
              <a:ext cx="5000625" cy="3714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571625" y="2295525"/>
              <a:ext cx="1266825" cy="400050"/>
            </a:xfrm>
            <a:custGeom>
              <a:avLst/>
              <a:gdLst/>
              <a:ahLst/>
              <a:cxnLst/>
              <a:rect l="l" t="t" r="r" b="b"/>
              <a:pathLst>
                <a:path w="1266825" h="400050">
                  <a:moveTo>
                    <a:pt x="0" y="400050"/>
                  </a:moveTo>
                  <a:lnTo>
                    <a:pt x="12668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71625" y="2695575"/>
              <a:ext cx="847725" cy="1000125"/>
            </a:xfrm>
            <a:custGeom>
              <a:avLst/>
              <a:gdLst/>
              <a:ahLst/>
              <a:cxnLst/>
              <a:rect l="l" t="t" r="r" b="b"/>
              <a:pathLst>
                <a:path w="847725" h="1000125">
                  <a:moveTo>
                    <a:pt x="0" y="0"/>
                  </a:moveTo>
                  <a:lnTo>
                    <a:pt x="847725" y="10001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19350" y="2295525"/>
              <a:ext cx="419100" cy="1400175"/>
            </a:xfrm>
            <a:custGeom>
              <a:avLst/>
              <a:gdLst/>
              <a:ahLst/>
              <a:cxnLst/>
              <a:rect l="l" t="t" r="r" b="b"/>
              <a:pathLst>
                <a:path w="419100" h="1400175">
                  <a:moveTo>
                    <a:pt x="419100" y="0"/>
                  </a:moveTo>
                  <a:lnTo>
                    <a:pt x="0" y="140017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838450" y="2295525"/>
              <a:ext cx="1438275" cy="790575"/>
            </a:xfrm>
            <a:custGeom>
              <a:avLst/>
              <a:gdLst/>
              <a:ahLst/>
              <a:cxnLst/>
              <a:rect l="l" t="t" r="r" b="b"/>
              <a:pathLst>
                <a:path w="1438275" h="790575">
                  <a:moveTo>
                    <a:pt x="0" y="0"/>
                  </a:moveTo>
                  <a:lnTo>
                    <a:pt x="1438275" y="79057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2419350" y="3695700"/>
              <a:ext cx="1581150" cy="381000"/>
            </a:xfrm>
            <a:custGeom>
              <a:avLst/>
              <a:gdLst/>
              <a:ahLst/>
              <a:cxnLst/>
              <a:rect l="l" t="t" r="r" b="b"/>
              <a:pathLst>
                <a:path w="1581150" h="381000">
                  <a:moveTo>
                    <a:pt x="0" y="0"/>
                  </a:moveTo>
                  <a:lnTo>
                    <a:pt x="1581150" y="381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1238250" y="2362200"/>
              <a:ext cx="666750" cy="666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505075" y="1962150"/>
              <a:ext cx="666750" cy="666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085975" y="3362325"/>
              <a:ext cx="666750" cy="666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943350" y="2752725"/>
              <a:ext cx="666750" cy="666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667125" y="3743325"/>
              <a:ext cx="666750" cy="666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400556" y="2152650"/>
              <a:ext cx="3005023" cy="2133219"/>
              <a:chOff x="1400556" y="2152650"/>
              <a:chExt cx="3005023" cy="213321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400556" y="255270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67381" y="215265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48281" y="3552825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05656" y="2943225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829431" y="3933825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C₅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55142" y="48545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方法示意：非实证网络；节点与边均不代表结果</a:t>
              </a:r>
            </a:p>
          </p:txBody>
        </p:sp>
      </p:grpSp>
      <p:grpSp>
        <p:nvGrpSpPr>
          <p:cNvPr id="31" name="network-reasoning"/>
          <p:cNvGrpSpPr/>
          <p:nvPr/>
        </p:nvGrpSpPr>
        <p:grpSpPr>
          <a:xfrm>
            <a:off x="6037707" y="1746250"/>
            <a:ext cx="3896868" cy="3191383"/>
            <a:chOff x="6037707" y="1746250"/>
            <a:chExt cx="3896868" cy="3191383"/>
          </a:xfrm>
        </p:grpSpPr>
        <p:sp>
          <p:nvSpPr>
            <p:cNvPr id="25" name="TextBox 25"/>
            <p:cNvSpPr txBox="1"/>
            <p:nvPr/>
          </p:nvSpPr>
          <p:spPr>
            <a:xfrm>
              <a:off x="6037707" y="174625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从相关边到化学模块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9231" y="232727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保留边的强度与正负号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9231" y="28321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比较阈值变化下的主要模块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39231" y="33369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结合酒花、酵母等来源核对模块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9231" y="38417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把模块用于变量筛选和替代候选解释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1517" y="46736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共变关系可以支持筛选，不能直接证明因果。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22732" y="5651500"/>
            <a:ext cx="7371588" cy="410718"/>
            <a:chOff x="522732" y="5651500"/>
            <a:chExt cx="7371588" cy="410718"/>
          </a:xfrm>
        </p:grpSpPr>
        <p:sp>
          <p:nvSpPr>
            <p:cNvPr id="32" name="TextBox 32"/>
            <p:cNvSpPr txBox="1"/>
            <p:nvPr/>
          </p:nvSpPr>
          <p:spPr>
            <a:xfrm>
              <a:off x="522732" y="5651500"/>
              <a:ext cx="7371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先识别一起变化的化合物，再检验谁对感官预测有增量贡献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526542" y="6369050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依据：附件2；网络用途和筛选流程为本分析建议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2 · 解释证据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73100"/>
              <a:ext cx="39416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Top-3需要完整证据链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model-evidence"/>
          <p:cNvGrpSpPr/>
          <p:nvPr/>
        </p:nvGrpSpPr>
        <p:grpSpPr>
          <a:xfrm>
            <a:off x="522732" y="1670050"/>
            <a:ext cx="7463028" cy="733933"/>
            <a:chOff x="522732" y="1670050"/>
            <a:chExt cx="7463028" cy="733933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6700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7082" y="16700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模型交叉验证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53281" y="1708150"/>
              <a:ext cx="325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Elastic Net与树模型相互对照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5567" y="21399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比较方向和增量贡献，不只看一次重要性排序。</a:t>
              </a:r>
            </a:p>
          </p:txBody>
        </p:sp>
      </p:grpSp>
      <p:grpSp>
        <p:nvGrpSpPr>
          <p:cNvPr id="15" name="module-evidence"/>
          <p:cNvGrpSpPr/>
          <p:nvPr/>
        </p:nvGrpSpPr>
        <p:grpSpPr>
          <a:xfrm>
            <a:off x="522732" y="2689225"/>
            <a:ext cx="7463028" cy="733933"/>
            <a:chOff x="522732" y="2689225"/>
            <a:chExt cx="7463028" cy="733933"/>
          </a:xfrm>
        </p:grpSpPr>
        <p:sp>
          <p:nvSpPr>
            <p:cNvPr id="11" name="TextBox 11"/>
            <p:cNvSpPr txBox="1"/>
            <p:nvPr/>
          </p:nvSpPr>
          <p:spPr>
            <a:xfrm>
              <a:off x="522732" y="268922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082" y="26892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相关模块检验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3281" y="272732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高度相关的变量增加模块置换检验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55567" y="315912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允许同模块化合物互为替代，识别重要性分摊。</a:t>
              </a:r>
            </a:p>
          </p:txBody>
        </p:sp>
      </p:grpSp>
      <p:grpSp>
        <p:nvGrpSpPr>
          <p:cNvPr id="20" name="style-evidence"/>
          <p:cNvGrpSpPr/>
          <p:nvPr/>
        </p:nvGrpSpPr>
        <p:grpSpPr>
          <a:xfrm>
            <a:off x="522732" y="3708400"/>
            <a:ext cx="7463028" cy="733933"/>
            <a:chOff x="522732" y="3708400"/>
            <a:chExt cx="7463028" cy="733933"/>
          </a:xfrm>
        </p:grpSpPr>
        <p:sp>
          <p:nvSpPr>
            <p:cNvPr id="16" name="TextBox 16"/>
            <p:cNvSpPr txBox="1"/>
            <p:nvPr/>
          </p:nvSpPr>
          <p:spPr>
            <a:xfrm>
              <a:off x="522732" y="370840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7082" y="37084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风格混杂控制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3281" y="37465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比较总体关系和控制风格后的关系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55567" y="417830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解释某项重要性是否主要反映风格之间的差异。</a:t>
              </a:r>
            </a:p>
          </p:txBody>
        </p:sp>
      </p:grpSp>
      <p:grpSp>
        <p:nvGrpSpPr>
          <p:cNvPr id="25" name="chemical-evidence"/>
          <p:cNvGrpSpPr/>
          <p:nvPr/>
        </p:nvGrpSpPr>
        <p:grpSpPr>
          <a:xfrm>
            <a:off x="522732" y="4727575"/>
            <a:ext cx="8389887" cy="733933"/>
            <a:chOff x="522732" y="4727575"/>
            <a:chExt cx="8389887" cy="733933"/>
          </a:xfrm>
        </p:grpSpPr>
        <p:sp>
          <p:nvSpPr>
            <p:cNvPr id="21" name="TextBox 21"/>
            <p:cNvSpPr txBox="1"/>
            <p:nvPr/>
          </p:nvSpPr>
          <p:spPr>
            <a:xfrm>
              <a:off x="522732" y="47275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7082" y="47275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化学依据核对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53281" y="476567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单体化合物、综合量与理化参数分开报告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55567" y="5197475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“总酯”可以有预测价值，但不能直接当作一个单体化合物。</a:t>
              </a:r>
            </a:p>
          </p:txBody>
        </p:sp>
      </p:grpSp>
      <p:grpSp>
        <p:nvGrpSpPr>
          <p:cNvPr id="27" name="report-fields"/>
          <p:cNvGrpSpPr/>
          <p:nvPr/>
        </p:nvGrpSpPr>
        <p:grpSpPr>
          <a:xfrm>
            <a:off x="524256" y="5756275"/>
            <a:ext cx="7045452" cy="352044"/>
            <a:chOff x="524256" y="5756275"/>
            <a:chExt cx="7045452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524256" y="575627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结果同时给出：化合物、作用方向、入选频率、方法一致性与解释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369050"/>
              <a:ext cx="2158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方法建议；Top-3尚未计算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2 · 稳定性检验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73100"/>
              <a:ext cx="35362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量化Top-3的稳定性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bootstrap-intro"/>
          <p:cNvGrpSpPr/>
          <p:nvPr/>
        </p:nvGrpSpPr>
        <p:grpSpPr>
          <a:xfrm>
            <a:off x="522732" y="1670050"/>
            <a:ext cx="6800850" cy="410718"/>
            <a:chOff x="522732" y="1670050"/>
            <a:chExt cx="680085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670050"/>
              <a:ext cx="6800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Bootstrap：某化合物在重复抽样中进入前三名的频率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bootstrap-formula"/>
              <p:cNvSpPr txBox="1">
                <a:spLocks noGrp="1"/>
              </p:cNvSpPr>
              <p:nvPr/>
            </p:nvSpPr>
            <p:spPr>
              <a:xfrm>
                <a:off x="533400" y="2276475"/>
                <a:ext cx="11125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Sup>
                                <m:e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9" name="TextBox 9"/>
              <p:cNvSpPr txBox="1"/>
              <p:nvPr/>
            </p:nvSpPr>
            <p:spPr>
              <a:xfrm>
                <a:off x="674370" y="2568575"/>
                <a:ext cx="42285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πⱼd = (1/B) Σᵦ I{ j ∈ Tᵈ⁽ᵇ⁾ }</a:t>
                </a:r>
              </a:p>
            </p:txBody>
          </p:sp>
        </mc:Fallback>
      </mc:AlternateContent>
      <p:grpSp>
        <p:nvGrpSpPr>
          <p:cNvPr id="11" name="jaccard-intro"/>
          <p:cNvGrpSpPr/>
          <p:nvPr/>
        </p:nvGrpSpPr>
        <p:grpSpPr>
          <a:xfrm>
            <a:off x="522732" y="3536950"/>
            <a:ext cx="5303063" cy="410718"/>
            <a:chOff x="522732" y="3536950"/>
            <a:chExt cx="5303063" cy="410718"/>
          </a:xfrm>
        </p:grpSpPr>
        <p:sp>
          <p:nvSpPr>
            <p:cNvPr id="10" name="TextBox 10"/>
            <p:cNvSpPr txBox="1"/>
            <p:nvPr/>
          </p:nvSpPr>
          <p:spPr>
            <a:xfrm>
              <a:off x="522732" y="3536950"/>
              <a:ext cx="53030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Jaccard：不同方法的Top-3集合有多一致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jaccard-formula"/>
              <p:cNvSpPr txBox="1">
                <a:spLocks noGrp="1"/>
              </p:cNvSpPr>
              <p:nvPr/>
            </p:nvSpPr>
            <p:spPr>
              <a:xfrm>
                <a:off x="533400" y="4057650"/>
                <a:ext cx="11125200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∩</m:t>
                              </m:r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∪</m:t>
                              </m:r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13"/>
              <p:cNvSpPr txBox="1"/>
              <p:nvPr/>
            </p:nvSpPr>
            <p:spPr>
              <a:xfrm>
                <a:off x="674370" y="4292600"/>
                <a:ext cx="373532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J(A, B) = |A ∩ B| / |A ∪ B|</a:t>
                </a:r>
              </a:p>
            </p:txBody>
          </p:sp>
        </mc:Fallback>
      </mc:AlternateContent>
      <p:grpSp>
        <p:nvGrpSpPr>
          <p:cNvPr id="16" name="stability-protocol"/>
          <p:cNvGrpSpPr/>
          <p:nvPr/>
        </p:nvGrpSpPr>
        <p:grpSpPr>
          <a:xfrm>
            <a:off x="524256" y="5270500"/>
            <a:ext cx="7287768" cy="752094"/>
            <a:chOff x="524256" y="5270500"/>
            <a:chExt cx="7287768" cy="752094"/>
          </a:xfrm>
        </p:grpSpPr>
        <p:sp>
          <p:nvSpPr>
            <p:cNvPr id="14" name="TextBox 14"/>
            <p:cNvSpPr txBox="1"/>
            <p:nvPr/>
          </p:nvSpPr>
          <p:spPr>
            <a:xfrm>
              <a:off x="524256" y="527050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从原始啤酒样本重采样，每次重新拟合并筛选，不能抽样矩阵单元格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256" y="567055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第三名不稳定时报告替代候选；模块稳定与单体稳定分别解释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6369050"/>
              <a:ext cx="5050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依据：赛题问题2；B为重采样次数，T为某次筛选的前三名集合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2 · 化学解释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化学合理性如何论证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known-descriptors"/>
          <p:cNvGrpSpPr/>
          <p:nvPr/>
        </p:nvGrpSpPr>
        <p:grpSpPr>
          <a:xfrm>
            <a:off x="524256" y="1822450"/>
            <a:ext cx="5250371" cy="3658108"/>
            <a:chOff x="524256" y="1822450"/>
            <a:chExt cx="5250371" cy="3658108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18224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乙酸异戊酯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：香蕉、梨、糖果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4892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乙酸乙酯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：溶剂、指甲油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3155950"/>
              <a:ext cx="24541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DMS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：熟玉米、卷心菜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8227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双乙酰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：黄油、奶油糖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4489450"/>
              <a:ext cx="37499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trans-2-nonenal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：湿纸板、纸味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542" y="5216525"/>
              <a:ext cx="5248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以上为典型描述，用于核对模型发现，并非本次已得到的Top-3。</a:t>
              </a:r>
            </a:p>
          </p:txBody>
        </p:sp>
      </p:grpSp>
      <p:grpSp>
        <p:nvGrpSpPr>
          <p:cNvPr id="20" name="interpretation-boundary"/>
          <p:cNvGrpSpPr/>
          <p:nvPr/>
        </p:nvGrpSpPr>
        <p:grpSpPr>
          <a:xfrm>
            <a:off x="7810500" y="1676400"/>
            <a:ext cx="3848100" cy="3924300"/>
            <a:chOff x="7810500" y="1676400"/>
            <a:chExt cx="3848100" cy="3924300"/>
          </a:xfrm>
        </p:grpSpPr>
        <p:sp>
          <p:nvSpPr>
            <p:cNvPr id="13" name="Rectangle 13"/>
            <p:cNvSpPr/>
            <p:nvPr/>
          </p:nvSpPr>
          <p:spPr>
            <a:xfrm>
              <a:off x="7810500" y="1676400"/>
              <a:ext cx="3848100" cy="392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482" y="18415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还需要检查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49006" y="24987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浓度与感知阈值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49006" y="30416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方向及可能的非线性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49006" y="35845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风格内是否仍成立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1292" y="4251325"/>
              <a:ext cx="2242566" cy="540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4VG的评价依赖风格；</a:t>
              </a:r>
              <a:b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生成约束仍按题目要求执行。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51292" y="50736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化学解释与统计稳定性相互校验。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6369050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依据：附件3评分卡中的典型感官描述，附件8的阈值信息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3 · 风格条件生成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共享低维结构的条件生成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sample-limitation"/>
          <p:cNvGrpSpPr/>
          <p:nvPr/>
        </p:nvGrpSpPr>
        <p:grpSpPr>
          <a:xfrm>
            <a:off x="522732" y="1670050"/>
            <a:ext cx="6935534" cy="762508"/>
            <a:chOff x="522732" y="1670050"/>
            <a:chExt cx="6935534" cy="76250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670050"/>
              <a:ext cx="69355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风格样本：Tripel 28 / Kriek 10 / Lambic 11 / Faro 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6542" y="2168525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每个风格分别拟合一个231维复杂分布，估计会很不稳定。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actor-model"/>
              <p:cNvSpPr txBox="1">
                <a:spLocks noGrp="1"/>
              </p:cNvSpPr>
              <p:nvPr/>
            </p:nvSpPr>
            <p:spPr>
              <a:xfrm>
                <a:off x="533400" y="2705100"/>
                <a:ext cx="11125200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Lz</m:t>
                      </m:r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ϵ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10"/>
              <p:cNvSpPr txBox="1"/>
              <p:nvPr/>
            </p:nvSpPr>
            <p:spPr>
              <a:xfrm>
                <a:off x="5050726" y="2949575"/>
                <a:ext cx="209054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x = μₛ + Lz + ε</a:t>
                </a:r>
              </a:p>
            </p:txBody>
          </p:sp>
        </mc:Fallback>
      </mc:AlternateContent>
      <p:grpSp>
        <p:nvGrpSpPr>
          <p:cNvPr id="14" name="shared-factors"/>
          <p:cNvGrpSpPr/>
          <p:nvPr/>
        </p:nvGrpSpPr>
        <p:grpSpPr>
          <a:xfrm>
            <a:off x="522732" y="3984625"/>
            <a:ext cx="2991612" cy="1591183"/>
            <a:chOff x="522732" y="3984625"/>
            <a:chExt cx="2991612" cy="1591183"/>
          </a:xfrm>
        </p:grpSpPr>
        <p:sp>
          <p:nvSpPr>
            <p:cNvPr id="11" name="TextBox 11"/>
            <p:cNvSpPr txBox="1"/>
            <p:nvPr/>
          </p:nvSpPr>
          <p:spPr>
            <a:xfrm>
              <a:off x="522732" y="39846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共享因子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256" y="4435475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由全体样本学习主要共变结构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减少高维分布的自由参数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542" y="5311775"/>
              <a:ext cx="2763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L为共享载荷，z为低维潜在变量。</a:t>
              </a:r>
            </a:p>
          </p:txBody>
        </p:sp>
      </p:grpSp>
      <p:grpSp>
        <p:nvGrpSpPr>
          <p:cNvPr id="18" name="style-shrinkage"/>
          <p:cNvGrpSpPr/>
          <p:nvPr/>
        </p:nvGrpSpPr>
        <p:grpSpPr>
          <a:xfrm>
            <a:off x="6418707" y="3984625"/>
            <a:ext cx="3288792" cy="1591183"/>
            <a:chOff x="6418707" y="3984625"/>
            <a:chExt cx="3288792" cy="1591183"/>
          </a:xfrm>
        </p:grpSpPr>
        <p:sp>
          <p:nvSpPr>
            <p:cNvPr id="15" name="TextBox 15"/>
            <p:cNvSpPr txBox="1"/>
            <p:nvPr/>
          </p:nvSpPr>
          <p:spPr>
            <a:xfrm>
              <a:off x="6418707" y="39846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风格收缩估计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20231" y="4435475"/>
              <a:ext cx="27614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各风格拥有中心与变异参数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样本少时借用总体信息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22517" y="53117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均值谱作基线；复杂生成器需证明增益。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6369050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风格数量依据附件1；因子模型与收缩估计为建议方案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3 · 化合物谱与感官画像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化合物谱与感官画像生成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generation-sequence"/>
          <p:cNvGrpSpPr/>
          <p:nvPr/>
        </p:nvGrpSpPr>
        <p:grpSpPr>
          <a:xfrm>
            <a:off x="522732" y="1895475"/>
            <a:ext cx="10697718" cy="1872869"/>
            <a:chOff x="522732" y="1895475"/>
            <a:chExt cx="10697718" cy="1872869"/>
          </a:xfrm>
        </p:grpSpPr>
        <p:sp>
          <p:nvSpPr>
            <p:cNvPr id="6" name="Line 6"/>
            <p:cNvSpPr/>
            <p:nvPr/>
          </p:nvSpPr>
          <p:spPr>
            <a:xfrm>
              <a:off x="895350" y="2124075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89547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486150" y="189547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362700" y="189547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39250" y="189547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62381" y="1981200"/>
              <a:ext cx="8781212" cy="352044"/>
              <a:chOff x="762381" y="1981200"/>
              <a:chExt cx="8781212" cy="35204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62381" y="19812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638931" y="19812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15481" y="19812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2031" y="198120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2732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条件抽样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3054350"/>
              <a:ext cx="13898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给定目标风格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抽取潜在向量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9282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解码还原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00806" y="3054350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生成基础指标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按逐列记录反变换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5832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化学校验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7356" y="3054350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范围、单位与依赖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综合量由单项重算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52382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感官映射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53906" y="3054350"/>
              <a:ext cx="1847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调用第一问模型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给画像及不确定性</a:t>
              </a:r>
            </a:p>
          </p:txBody>
        </p:sp>
      </p:grpSp>
      <p:grpSp>
        <p:nvGrpSpPr>
          <p:cNvPr id="29" name="generation-boundaries"/>
          <p:cNvGrpSpPr/>
          <p:nvPr/>
        </p:nvGrpSpPr>
        <p:grpSpPr>
          <a:xfrm>
            <a:off x="533400" y="4533900"/>
            <a:ext cx="11125200" cy="1400175"/>
            <a:chOff x="533400" y="4533900"/>
            <a:chExt cx="11125200" cy="1400175"/>
          </a:xfrm>
        </p:grpSpPr>
        <p:sp>
          <p:nvSpPr>
            <p:cNvPr id="25" name="Rectangle 25"/>
            <p:cNvSpPr/>
            <p:nvPr/>
          </p:nvSpPr>
          <p:spPr>
            <a:xfrm>
              <a:off x="533400" y="4533900"/>
              <a:ext cx="11125200" cy="14001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1332" y="472757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生成多款不同的合理样本，而非只输出一条均值谱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856" y="5222875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总酯、总酸等派生量不应与单项化合物脱离约束地独立生成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5142" y="561657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先核实各项计算定义，再决定可以重算或应当剔除的派生指标。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526542" y="636905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方法建议；感官画像的可信度受第一问预测和标定质量限制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3 · 跨风格迁移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风格迁移与最小改动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transfer-target"/>
          <p:cNvGrpSpPr/>
          <p:nvPr/>
        </p:nvGrpSpPr>
        <p:grpSpPr>
          <a:xfrm>
            <a:off x="522732" y="1708150"/>
            <a:ext cx="7117867" cy="410718"/>
            <a:chOff x="522732" y="1708150"/>
            <a:chExt cx="711786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708150"/>
              <a:ext cx="7117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示例任务：将 Pils/Lager 的化合物谱迁移为 Tripel 风格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ransfer-objective"/>
              <p:cNvSpPr txBox="1">
                <a:spLocks noGrp="1"/>
              </p:cNvSpPr>
              <p:nvPr/>
            </p:nvSpPr>
            <p:spPr>
              <a:xfrm>
                <a:off x="533400" y="2371725"/>
                <a:ext cx="11125200" cy="11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x'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x'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∣</m:t>
                                      </m:r>
                                      <m:sSub>
                                        <m:e>
                                          <m:r>
                                            <a:rPr lang="zh-CN" sz="2250" dirty="0">
                                              <a:solidFill>
                                                <a:srgbClr val="17324D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</m:t>
                                          </m:r>
                                        </m:e>
                                        <m:sub>
                                          <m:r>
                                            <a:rPr lang="zh-CN" sz="2250" dirty="0">
                                              <a:solidFill>
                                                <a:srgbClr val="17324D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λd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x'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9" name="TextBox 9"/>
              <p:cNvSpPr txBox="1"/>
              <p:nvPr/>
            </p:nvSpPr>
            <p:spPr>
              <a:xfrm>
                <a:off x="3381232" y="2730500"/>
                <a:ext cx="542953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minₓ′ [ −log p(x′ | sₜ) + λ d(x′, x) ]</a:t>
                </a:r>
              </a:p>
            </p:txBody>
          </p:sp>
        </mc:Fallback>
      </mc:AlternateContent>
      <p:grpSp>
        <p:nvGrpSpPr>
          <p:cNvPr id="12" name="style-fit"/>
          <p:cNvGrpSpPr/>
          <p:nvPr/>
        </p:nvGrpSpPr>
        <p:grpSpPr>
          <a:xfrm>
            <a:off x="522732" y="3889375"/>
            <a:ext cx="2991612" cy="1164844"/>
            <a:chOff x="522732" y="3889375"/>
            <a:chExt cx="2991612" cy="1164844"/>
          </a:xfrm>
        </p:grpSpPr>
        <p:sp>
          <p:nvSpPr>
            <p:cNvPr id="10" name="TextBox 10"/>
            <p:cNvSpPr txBox="1"/>
            <p:nvPr/>
          </p:nvSpPr>
          <p:spPr>
            <a:xfrm>
              <a:off x="522732" y="38893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目标风格贴近程度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4340225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提高目标风格下的合理性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检查分布位置和典型化学特征</a:t>
              </a:r>
            </a:p>
          </p:txBody>
        </p:sp>
      </p:grpSp>
      <p:grpSp>
        <p:nvGrpSpPr>
          <p:cNvPr id="15" name="minimal-edit"/>
          <p:cNvGrpSpPr/>
          <p:nvPr/>
        </p:nvGrpSpPr>
        <p:grpSpPr>
          <a:xfrm>
            <a:off x="6418707" y="3889375"/>
            <a:ext cx="2991612" cy="1164844"/>
            <a:chOff x="6418707" y="3889375"/>
            <a:chExt cx="2991612" cy="1164844"/>
          </a:xfrm>
        </p:grpSpPr>
        <p:sp>
          <p:nvSpPr>
            <p:cNvPr id="13" name="TextBox 13"/>
            <p:cNvSpPr txBox="1"/>
            <p:nvPr/>
          </p:nvSpPr>
          <p:spPr>
            <a:xfrm>
              <a:off x="6418707" y="38893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对原啤酒的改动幅度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20231" y="4340225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距离需考虑变量尺度与单位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限制改动，同时加入缺陷约束</a:t>
              </a:r>
            </a:p>
          </p:txBody>
        </p:sp>
      </p:grpSp>
      <p:grpSp>
        <p:nvGrpSpPr>
          <p:cNvPr id="17" name="feasibility"/>
          <p:cNvGrpSpPr/>
          <p:nvPr/>
        </p:nvGrpSpPr>
        <p:grpSpPr>
          <a:xfrm>
            <a:off x="524256" y="5641975"/>
            <a:ext cx="6076188" cy="352044"/>
            <a:chOff x="524256" y="5641975"/>
            <a:chExt cx="6076188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524256" y="564197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目标风格与缺陷条件冲突时，报告不可行或只能部分迁移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636905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依据：赛题迁移任务；优化形式为本分析建议，非已有求解结果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3 · 缺陷风险控制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0827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缺陷风险必须逐项约束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defect-set"/>
          <p:cNvGrpSpPr/>
          <p:nvPr/>
        </p:nvGrpSpPr>
        <p:grpSpPr>
          <a:xfrm>
            <a:off x="524256" y="1689100"/>
            <a:ext cx="7596969" cy="352044"/>
            <a:chOff x="524256" y="1689100"/>
            <a:chExt cx="7596969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1689100"/>
              <a:ext cx="75969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题设涉及 DMS、Diacetyl、4VG、trans-2-nonenal、Stale hops 等项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isk-formula"/>
              <p:cNvSpPr txBox="1">
                <a:spLocks noGrp="1"/>
              </p:cNvSpPr>
              <p:nvPr/>
            </p:nvSpPr>
            <p:spPr>
              <a:xfrm>
                <a:off x="533400" y="2295525"/>
                <a:ext cx="11125200" cy="1057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2250" dirty="0">
                                      <a:solidFill>
                                        <a:srgbClr val="17324D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zh-CN" sz="2250" dirty="0">
                                          <a:solidFill>
                                            <a:srgbClr val="17324D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sSub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'</m:t>
                              </m:r>
                            </m:e>
                            <m:sub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7324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b>
                        <m:e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7324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2250" dirty="0">
                                  <a:solidFill>
                                    <a:srgbClr val="17324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9" name="TextBox 9"/>
              <p:cNvSpPr txBox="1"/>
              <p:nvPr/>
            </p:nvSpPr>
            <p:spPr>
              <a:xfrm>
                <a:off x="2842139" y="2644775"/>
                <a:ext cx="650772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rᵈ(c) = max(0, c/Tᵈ − 1), rᵈ(c′ᵈ) ≤ rᵈ(cᵈ)</a:t>
                </a:r>
              </a:p>
            </p:txBody>
          </p:sp>
        </mc:Fallback>
      </mc:AlternateContent>
      <p:grpSp>
        <p:nvGrpSpPr>
          <p:cNvPr id="11" name="risk-definition"/>
          <p:cNvGrpSpPr/>
          <p:nvPr/>
        </p:nvGrpSpPr>
        <p:grpSpPr>
          <a:xfrm>
            <a:off x="524256" y="3641725"/>
            <a:ext cx="6406972" cy="352044"/>
            <a:chOff x="524256" y="3641725"/>
            <a:chExt cx="6406972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524256" y="3641725"/>
              <a:ext cx="64069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以可靠浓度 c 和阈值 T 定义超阈值程度；迁移后风险不增加</a:t>
              </a:r>
            </a:p>
          </p:txBody>
        </p:sp>
      </p:grpSp>
      <p:grpSp>
        <p:nvGrpSpPr>
          <p:cNvPr id="15" name="threshold-gap"/>
          <p:cNvGrpSpPr/>
          <p:nvPr/>
        </p:nvGrpSpPr>
        <p:grpSpPr>
          <a:xfrm>
            <a:off x="522732" y="4413250"/>
            <a:ext cx="3288792" cy="1543558"/>
            <a:chOff x="522732" y="4413250"/>
            <a:chExt cx="3288792" cy="1543558"/>
          </a:xfrm>
        </p:grpSpPr>
        <p:sp>
          <p:nvSpPr>
            <p:cNvPr id="12" name="TextBox 12"/>
            <p:cNvSpPr txBox="1"/>
            <p:nvPr/>
          </p:nvSpPr>
          <p:spPr>
            <a:xfrm>
              <a:off x="522732" y="441325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阈值与单位仍需核实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256" y="4845050"/>
              <a:ext cx="328726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trans-2-nonenal 阈值未填完整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先统一 mg/L 与 μg/L 等单位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542" y="56927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浓度不增加可作保守替代，需披露差异。</a:t>
              </a:r>
            </a:p>
          </p:txBody>
        </p:sp>
      </p:grpSp>
      <p:grpSp>
        <p:nvGrpSpPr>
          <p:cNvPr id="19" name="stale-hops-gap"/>
          <p:cNvGrpSpPr/>
          <p:nvPr/>
        </p:nvGrpSpPr>
        <p:grpSpPr>
          <a:xfrm>
            <a:off x="6418707" y="4413250"/>
            <a:ext cx="2991612" cy="1543558"/>
            <a:chOff x="6418707" y="4413250"/>
            <a:chExt cx="2991612" cy="1543558"/>
          </a:xfrm>
        </p:grpSpPr>
        <p:sp>
          <p:nvSpPr>
            <p:cNvPr id="16" name="TextBox 16"/>
            <p:cNvSpPr txBox="1"/>
            <p:nvPr/>
          </p:nvSpPr>
          <p:spPr>
            <a:xfrm>
              <a:off x="6418707" y="4413250"/>
              <a:ext cx="29425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Stale hops 是感官描述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20231" y="4845050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不能当作同名单体化合物浓度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可研究对预测感官值施加约束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22517" y="5692775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此时只能声称“预测风险未增加”。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6369050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依据：赛题问题3、附件4与8；约束函数为建议定义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3 · 生成与迁移验收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四方面检验生成结果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chemical-validity"/>
          <p:cNvGrpSpPr/>
          <p:nvPr/>
        </p:nvGrpSpPr>
        <p:grpSpPr>
          <a:xfrm>
            <a:off x="522732" y="1765300"/>
            <a:ext cx="3220212" cy="1164844"/>
            <a:chOff x="522732" y="1765300"/>
            <a:chExt cx="3220212" cy="1164844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7653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化学合理性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216150"/>
              <a:ext cx="3218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浓度和理化参数范围是否合理？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单项与综合量的依赖是否一致？</a:t>
              </a:r>
            </a:p>
          </p:txBody>
        </p:sp>
      </p:grpSp>
      <p:grpSp>
        <p:nvGrpSpPr>
          <p:cNvPr id="11" name="style-distribution"/>
          <p:cNvGrpSpPr/>
          <p:nvPr/>
        </p:nvGrpSpPr>
        <p:grpSpPr>
          <a:xfrm>
            <a:off x="6418707" y="1765300"/>
            <a:ext cx="3677412" cy="1164844"/>
            <a:chOff x="6418707" y="1765300"/>
            <a:chExt cx="3677412" cy="1164844"/>
          </a:xfrm>
        </p:grpSpPr>
        <p:sp>
          <p:nvSpPr>
            <p:cNvPr id="9" name="TextBox 9"/>
            <p:cNvSpPr txBox="1"/>
            <p:nvPr/>
          </p:nvSpPr>
          <p:spPr>
            <a:xfrm>
              <a:off x="6418707" y="17653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风格分布一致性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20231" y="2216150"/>
              <a:ext cx="36758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边际分布与相关结构是否接近真实？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分类器判对只能作为辅助证据</a:t>
              </a:r>
            </a:p>
          </p:txBody>
        </p:sp>
      </p:grpSp>
      <p:grpSp>
        <p:nvGrpSpPr>
          <p:cNvPr id="14" name="diversity"/>
          <p:cNvGrpSpPr/>
          <p:nvPr/>
        </p:nvGrpSpPr>
        <p:grpSpPr>
          <a:xfrm>
            <a:off x="522732" y="3765550"/>
            <a:ext cx="3448812" cy="1164844"/>
            <a:chOff x="522732" y="3765550"/>
            <a:chExt cx="3448812" cy="1164844"/>
          </a:xfrm>
        </p:grpSpPr>
        <p:sp>
          <p:nvSpPr>
            <p:cNvPr id="12" name="TextBox 12"/>
            <p:cNvSpPr txBox="1"/>
            <p:nvPr/>
          </p:nvSpPr>
          <p:spPr>
            <a:xfrm>
              <a:off x="522732" y="3765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多样性与复制风险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256" y="4216400"/>
              <a:ext cx="3447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是否覆盖风格内部的合理变化？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近邻距离是否提示复制训练样本？</a:t>
              </a:r>
            </a:p>
          </p:txBody>
        </p:sp>
      </p:grpSp>
      <p:grpSp>
        <p:nvGrpSpPr>
          <p:cNvPr id="17" name="transfer-validation"/>
          <p:cNvGrpSpPr/>
          <p:nvPr/>
        </p:nvGrpSpPr>
        <p:grpSpPr>
          <a:xfrm>
            <a:off x="6418707" y="3765550"/>
            <a:ext cx="2763012" cy="1164844"/>
            <a:chOff x="6418707" y="3765550"/>
            <a:chExt cx="2763012" cy="1164844"/>
          </a:xfrm>
        </p:grpSpPr>
        <p:sp>
          <p:nvSpPr>
            <p:cNvPr id="15" name="TextBox 15"/>
            <p:cNvSpPr txBox="1"/>
            <p:nvPr/>
          </p:nvSpPr>
          <p:spPr>
            <a:xfrm>
              <a:off x="6418707" y="376555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迁移效果与缺陷约束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20231" y="4216400"/>
              <a:ext cx="27614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改动多少，风格贴近多少？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每项缺陷风险是否增加？</a:t>
              </a:r>
            </a:p>
          </p:txBody>
        </p:sp>
      </p:grpSp>
      <p:grpSp>
        <p:nvGrpSpPr>
          <p:cNvPr id="19" name="generalization"/>
          <p:cNvGrpSpPr/>
          <p:nvPr/>
        </p:nvGrpSpPr>
        <p:grpSpPr>
          <a:xfrm>
            <a:off x="524256" y="5622925"/>
            <a:ext cx="6803136" cy="352044"/>
            <a:chOff x="524256" y="5622925"/>
            <a:chExt cx="6803136" cy="352044"/>
          </a:xfrm>
        </p:grpSpPr>
        <p:sp>
          <p:nvSpPr>
            <p:cNvPr id="18" name="TextBox 18"/>
            <p:cNvSpPr txBox="1"/>
            <p:nvPr/>
          </p:nvSpPr>
          <p:spPr>
            <a:xfrm>
              <a:off x="524256" y="562292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生成器只用训练数据估计；小风格的检验结果应保留区间与局限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63690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建议验收设计；当前没有生成样本或迁移成功率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统一实施安排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建模实施顺序与验收标准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data-delivery"/>
          <p:cNvGrpSpPr/>
          <p:nvPr/>
        </p:nvGrpSpPr>
        <p:grpSpPr>
          <a:xfrm>
            <a:off x="522732" y="1698625"/>
            <a:ext cx="7768209" cy="733933"/>
            <a:chOff x="522732" y="1698625"/>
            <a:chExt cx="7768209" cy="733933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169862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5207" y="16986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数据核实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53281" y="173672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数据字典、连接检查、变换及单位记录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5567" y="21685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验收：每列含义可追溯，样本连接不重不漏。</a:t>
              </a:r>
            </a:p>
          </p:txBody>
        </p:sp>
      </p:grpSp>
      <p:grpSp>
        <p:nvGrpSpPr>
          <p:cNvPr id="15" name="prediction-delivery"/>
          <p:cNvGrpSpPr/>
          <p:nvPr/>
        </p:nvGrpSpPr>
        <p:grpSpPr>
          <a:xfrm>
            <a:off x="522732" y="2717800"/>
            <a:ext cx="8010525" cy="733933"/>
            <a:chOff x="522732" y="2717800"/>
            <a:chExt cx="8010525" cy="733933"/>
          </a:xfrm>
        </p:grpSpPr>
        <p:sp>
          <p:nvSpPr>
            <p:cNvPr id="11" name="TextBox 11"/>
            <p:cNvSpPr txBox="1"/>
            <p:nvPr/>
          </p:nvSpPr>
          <p:spPr>
            <a:xfrm>
              <a:off x="522732" y="271780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5207" y="27178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感官预测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3281" y="27559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逐维预测结果、验证误差和等级标定说明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55567" y="31877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验收：明确预测尺度，并给出不确定性。</a:t>
              </a:r>
            </a:p>
          </p:txBody>
        </p:sp>
      </p:grpSp>
      <p:grpSp>
        <p:nvGrpSpPr>
          <p:cNvPr id="20" name="explanation-delivery"/>
          <p:cNvGrpSpPr/>
          <p:nvPr/>
        </p:nvGrpSpPr>
        <p:grpSpPr>
          <a:xfrm>
            <a:off x="522732" y="3736975"/>
            <a:ext cx="7720203" cy="733933"/>
            <a:chOff x="522732" y="3736975"/>
            <a:chExt cx="7720203" cy="733933"/>
          </a:xfrm>
        </p:grpSpPr>
        <p:sp>
          <p:nvSpPr>
            <p:cNvPr id="16" name="TextBox 16"/>
            <p:cNvSpPr txBox="1"/>
            <p:nvPr/>
          </p:nvSpPr>
          <p:spPr>
            <a:xfrm>
              <a:off x="522732" y="373697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5207" y="37369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关键因素解释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3281" y="3775075"/>
              <a:ext cx="408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Top-3、作用方向、稳定性及化学依据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55567" y="42068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验收：不稳定项和替代候选如实报告。</a:t>
              </a:r>
            </a:p>
          </p:txBody>
        </p:sp>
      </p:grpSp>
      <p:grpSp>
        <p:nvGrpSpPr>
          <p:cNvPr id="25" name="generation-delivery"/>
          <p:cNvGrpSpPr/>
          <p:nvPr/>
        </p:nvGrpSpPr>
        <p:grpSpPr>
          <a:xfrm>
            <a:off x="522732" y="4756150"/>
            <a:ext cx="8010525" cy="733933"/>
            <a:chOff x="522732" y="4756150"/>
            <a:chExt cx="8010525" cy="733933"/>
          </a:xfrm>
        </p:grpSpPr>
        <p:sp>
          <p:nvSpPr>
            <p:cNvPr id="21" name="TextBox 21"/>
            <p:cNvSpPr txBox="1"/>
            <p:nvPr/>
          </p:nvSpPr>
          <p:spPr>
            <a:xfrm>
              <a:off x="522732" y="47561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5207" y="47561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生成与迁移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53281" y="479425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候选谱、感官画像、迁移对照与逐项约束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55567" y="52260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验收：同时检查合理性、多样性和缺陷风险。</a:t>
              </a:r>
            </a:p>
          </p:txBody>
        </p:sp>
      </p:grpSp>
      <p:grpSp>
        <p:nvGrpSpPr>
          <p:cNvPr id="27" name="reproducibility"/>
          <p:cNvGrpSpPr/>
          <p:nvPr/>
        </p:nvGrpSpPr>
        <p:grpSpPr>
          <a:xfrm>
            <a:off x="524256" y="5784850"/>
            <a:ext cx="7287768" cy="352044"/>
            <a:chOff x="524256" y="5784850"/>
            <a:chExt cx="7287768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524256" y="578485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共同保留：训练测试划分、随机种子、处理记录、来源与可复现代码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36905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实施安排为本分析整理；当前交付为思路汇报，不含模型求解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18922" y="396875"/>
            <a:ext cx="11139678" cy="850900"/>
            <a:chOff x="518922" y="396875"/>
            <a:chExt cx="11139678" cy="85090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96875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 · 后续优先级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660400"/>
              <a:ext cx="28666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结论与参考资料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38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closing-message"/>
          <p:cNvGrpSpPr/>
          <p:nvPr/>
        </p:nvGrpSpPr>
        <p:grpSpPr>
          <a:xfrm>
            <a:off x="518922" y="1727200"/>
            <a:ext cx="7731252" cy="876808"/>
            <a:chOff x="518922" y="1727200"/>
            <a:chExt cx="7731252" cy="876808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1727200"/>
              <a:ext cx="77312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先厘清尺度，再建立预测，最后解释和设计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6542" y="23399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评分标定与缺陷阈值，比增加模型数量更优先。</a:t>
              </a:r>
            </a:p>
          </p:txBody>
        </p:sp>
      </p:grpSp>
      <p:grpSp>
        <p:nvGrpSpPr>
          <p:cNvPr id="13" name="three-conclusions"/>
          <p:cNvGrpSpPr/>
          <p:nvPr/>
        </p:nvGrpSpPr>
        <p:grpSpPr>
          <a:xfrm>
            <a:off x="524256" y="3222625"/>
            <a:ext cx="3895344" cy="2153158"/>
            <a:chOff x="524256" y="3222625"/>
            <a:chExt cx="3895344" cy="2153158"/>
          </a:xfrm>
        </p:grpSpPr>
        <p:sp>
          <p:nvSpPr>
            <p:cNvPr id="9" name="TextBox 9"/>
            <p:cNvSpPr txBox="1"/>
            <p:nvPr/>
          </p:nvSpPr>
          <p:spPr>
            <a:xfrm>
              <a:off x="524256" y="322262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第一问：提供可靠的感官画像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380365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第二问：提供稳定的关键因素证据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438467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第三问：提供受约束的候选化合物谱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542" y="51117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5B21"/>
                  </a:solidFill>
                  <a:latin typeface="+mn-lt"/>
                  <a:ea typeface="+mn-ea"/>
                  <a:cs typeface="+mn-cs"/>
                </a:rPr>
                <a:t>统计上的合理，不等于酿造工艺上已可实现。</a:t>
              </a:r>
            </a:p>
          </p:txBody>
        </p:sp>
      </p:grpSp>
      <p:grpSp>
        <p:nvGrpSpPr>
          <p:cNvPr id="18" name="references"/>
          <p:cNvGrpSpPr/>
          <p:nvPr/>
        </p:nvGrpSpPr>
        <p:grpSpPr>
          <a:xfrm>
            <a:off x="7323582" y="3155950"/>
            <a:ext cx="3557968" cy="2572258"/>
            <a:chOff x="7323582" y="3155950"/>
            <a:chExt cx="3557968" cy="2572258"/>
          </a:xfrm>
        </p:grpSpPr>
        <p:sp>
          <p:nvSpPr>
            <p:cNvPr id="14" name="TextBox 14"/>
            <p:cNvSpPr txBox="1"/>
            <p:nvPr/>
          </p:nvSpPr>
          <p:spPr>
            <a:xfrm>
              <a:off x="7323582" y="3155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资料依据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27392" y="3692525"/>
              <a:ext cx="20752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[1] 本赛题PDF及附件1–8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27392" y="4041775"/>
              <a:ext cx="3554158" cy="10927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[2] Schreurs et al., Nat. Commun. (2024)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Predicting and improving complex beer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flavor through machine learning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DOI: 10.1038/s41467-024-46346-0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7392" y="5464175"/>
              <a:ext cx="2866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[3] Zenodo数据与代码：10653704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6542" y="6369050"/>
            <a:ext cx="10957827" cy="264033"/>
            <a:chOff x="526542" y="6369050"/>
            <a:chExt cx="1095782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6369050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研究方案与验证设计 · 模型尚未训练，未报告实验效果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0742" y="63690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thorCup2026A_analysis">
  <a:themeElements>
    <a:clrScheme name="MathorCup2026A_analysis">
      <a:dk1>
        <a:srgbClr val="253340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007F86"/>
      </a:accent2>
      <a:accent3>
        <a:srgbClr val="54728B"/>
      </a:accent3>
      <a:accent4>
        <a:srgbClr val="17324D"/>
      </a:accent4>
      <a:accent5>
        <a:srgbClr val="617180"/>
      </a:accent5>
      <a:accent6>
        <a:srgbClr val="CBD5DE"/>
      </a:accent6>
      <a:hlink>
        <a:srgbClr val="007F86"/>
      </a:hlink>
      <a:folHlink>
        <a:srgbClr val="54728B"/>
      </a:folHlink>
    </a:clrScheme>
    <a:fontScheme name="MathorCup2026A_analysis">
      <a:majorFont>
        <a:latin typeface="Arial"/>
        <a:ea typeface="SimSun"/>
        <a:cs typeface="Arial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horCup2026A_analy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thorCup2026A_analysis">
  <a:themeElements>
    <a:clrScheme name="MathorCup2026A_analysis">
      <a:dk1>
        <a:srgbClr val="253340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007F86"/>
      </a:accent2>
      <a:accent3>
        <a:srgbClr val="54728B"/>
      </a:accent3>
      <a:accent4>
        <a:srgbClr val="17324D"/>
      </a:accent4>
      <a:accent5>
        <a:srgbClr val="617180"/>
      </a:accent5>
      <a:accent6>
        <a:srgbClr val="CBD5DE"/>
      </a:accent6>
      <a:hlink>
        <a:srgbClr val="007F86"/>
      </a:hlink>
      <a:folHlink>
        <a:srgbClr val="54728B"/>
      </a:folHlink>
    </a:clrScheme>
    <a:fontScheme name="MathorCup2026A_analysis">
      <a:majorFont>
        <a:latin typeface="Arial"/>
        <a:ea typeface="SimSun"/>
        <a:cs typeface="Arial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horCup2026A_analy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2026-10-25T04:25:22Z</dcterms:created>
  <dcterms:modified xsi:type="dcterms:W3CDTF">2026-10-25T04:25:22Z</dcterms:modified>
  <cp:category/>
  <cp:contentStatus/>
</cp:coreProperties>
</file>